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71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US" sz="1600" b="0" i="0" u="none" strike="noStrike">
                <a:solidFill>
                  <a:srgbClr val="1E2761"/>
                </a:solidFill>
                <a:latin typeface="Arial"/>
              </a:rPr>
              <a:t>Total Revenue by Month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50800" cap="flat">
              <a:solidFill>
                <a:srgbClr val="3D5A80"/>
              </a:solidFill>
              <a:prstDash val="solid"/>
              <a:round/>
            </a:ln>
            <a:effectLst>
              <a:outerShdw blurRad="101600" dist="38100" dir="8100000" algn="bl">
                <a:srgbClr val="000000">
                  <a:alpha val="15000"/>
                </a:srgbClr>
              </a:outerShdw>
            </a:effectLst>
          </c:spPr>
          <c:marker>
            <c:symbol val="circle"/>
            <c:size val="6"/>
            <c:spPr>
              <a:solidFill>
                <a:srgbClr val="3D5A80"/>
              </a:solidFill>
              <a:ln w="9525" cap="flat">
                <a:solidFill>
                  <a:srgbClr val="3D5A80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65</c:v>
                </c:pt>
                <c:pt idx="1">
                  <c:v>55</c:v>
                </c:pt>
                <c:pt idx="2">
                  <c:v>60</c:v>
                </c:pt>
                <c:pt idx="3">
                  <c:v>63</c:v>
                </c:pt>
                <c:pt idx="4">
                  <c:v>68</c:v>
                </c:pt>
                <c:pt idx="5">
                  <c:v>73</c:v>
                </c:pt>
                <c:pt idx="6">
                  <c:v>69</c:v>
                </c:pt>
                <c:pt idx="7">
                  <c:v>85</c:v>
                </c:pt>
                <c:pt idx="8">
                  <c:v>88</c:v>
                </c:pt>
                <c:pt idx="9">
                  <c:v>90</c:v>
                </c:pt>
                <c:pt idx="10">
                  <c:v>88</c:v>
                </c:pt>
                <c:pt idx="11">
                  <c:v>85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FD5-4D93-B55F-DDF7F65DA8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645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6454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US" sz="1600" b="0" i="0" u="none" strike="noStrike">
                <a:solidFill>
                  <a:srgbClr val="1E2761"/>
                </a:solidFill>
                <a:latin typeface="Arial"/>
              </a:rPr>
              <a:t>Total Expense by Month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Expense</c:v>
                </c:pt>
              </c:strCache>
            </c:strRef>
          </c:tx>
          <c:spPr>
            <a:ln w="50800" cap="flat">
              <a:solidFill>
                <a:srgbClr val="3D5A80"/>
              </a:solidFill>
              <a:prstDash val="solid"/>
              <a:round/>
            </a:ln>
            <a:effectLst>
              <a:outerShdw blurRad="101600" dist="38100" dir="8100000" algn="bl">
                <a:srgbClr val="000000">
                  <a:alpha val="15000"/>
                </a:srgbClr>
              </a:outerShdw>
            </a:effectLst>
          </c:spPr>
          <c:marker>
            <c:symbol val="circle"/>
            <c:size val="6"/>
            <c:spPr>
              <a:solidFill>
                <a:srgbClr val="3D5A80"/>
              </a:solidFill>
              <a:ln w="9525" cap="flat">
                <a:solidFill>
                  <a:srgbClr val="3D5A80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-13</c:v>
                </c:pt>
                <c:pt idx="1">
                  <c:v>-12</c:v>
                </c:pt>
                <c:pt idx="2">
                  <c:v>-15</c:v>
                </c:pt>
                <c:pt idx="3">
                  <c:v>-16.5</c:v>
                </c:pt>
                <c:pt idx="4">
                  <c:v>-13.5</c:v>
                </c:pt>
                <c:pt idx="5">
                  <c:v>-14</c:v>
                </c:pt>
                <c:pt idx="6">
                  <c:v>-14.5</c:v>
                </c:pt>
                <c:pt idx="7">
                  <c:v>-14</c:v>
                </c:pt>
                <c:pt idx="8">
                  <c:v>-15</c:v>
                </c:pt>
                <c:pt idx="9">
                  <c:v>-14.5</c:v>
                </c:pt>
                <c:pt idx="10">
                  <c:v>-14</c:v>
                </c:pt>
                <c:pt idx="11">
                  <c:v>-14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F5F-48FF-B6F0-4D82E2B5C6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645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6454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US" sz="1600" b="0" i="0" u="none" strike="noStrike">
                <a:solidFill>
                  <a:srgbClr val="1E2761"/>
                </a:solidFill>
                <a:latin typeface="Arial"/>
              </a:rPr>
              <a:t>Total Profit by Quarter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</c:v>
                </c:pt>
              </c:strCache>
            </c:strRef>
          </c:tx>
          <c:spPr>
            <a:ln w="63500" cap="flat">
              <a:solidFill>
                <a:srgbClr val="3D5A80"/>
              </a:solidFill>
              <a:prstDash val="solid"/>
              <a:round/>
            </a:ln>
            <a:effectLst>
              <a:outerShdw blurRad="101600" dist="38100" dir="8100000" algn="bl">
                <a:srgbClr val="000000">
                  <a:alpha val="15000"/>
                </a:srgbClr>
              </a:outerShdw>
            </a:effectLst>
          </c:spPr>
          <c:marker>
            <c:symbol val="circle"/>
            <c:size val="6"/>
            <c:spPr>
              <a:solidFill>
                <a:srgbClr val="3D5A80"/>
              </a:solidFill>
              <a:ln w="9525" cap="flat">
                <a:solidFill>
                  <a:srgbClr val="3D5A80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Qtr 1</c:v>
                </c:pt>
                <c:pt idx="1">
                  <c:v>Qtr 2</c:v>
                </c:pt>
                <c:pt idx="2">
                  <c:v>Qtr 3</c:v>
                </c:pt>
                <c:pt idx="3">
                  <c:v>Qtr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140</c:v>
                </c:pt>
                <c:pt idx="1">
                  <c:v>160</c:v>
                </c:pt>
                <c:pt idx="2">
                  <c:v>185</c:v>
                </c:pt>
                <c:pt idx="3">
                  <c:v>225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1C2-449C-9BF3-7AEC479A80F6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645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6454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US" sz="1600" b="0" i="0" u="none" strike="noStrike">
                <a:solidFill>
                  <a:srgbClr val="1E2761"/>
                </a:solidFill>
                <a:latin typeface="Arial"/>
              </a:rPr>
              <a:t>Revenue vs Expense by Quarter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</c:v>
                </c:pt>
              </c:strCache>
            </c:strRef>
          </c:tx>
          <c:spPr>
            <a:ln w="50800" cap="flat">
              <a:solidFill>
                <a:srgbClr val="3D5A80"/>
              </a:solidFill>
              <a:prstDash val="solid"/>
              <a:round/>
            </a:ln>
            <a:effectLst>
              <a:outerShdw blurRad="101600" dist="38100" dir="8100000" algn="bl">
                <a:srgbClr val="000000">
                  <a:alpha val="15000"/>
                </a:srgbClr>
              </a:outerShdw>
            </a:effectLst>
          </c:spPr>
          <c:marker>
            <c:symbol val="circle"/>
            <c:size val="6"/>
            <c:spPr>
              <a:solidFill>
                <a:srgbClr val="3D5A80"/>
              </a:solidFill>
              <a:ln w="9525" cap="flat">
                <a:solidFill>
                  <a:srgbClr val="3D5A80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Qtr 1</c:v>
                </c:pt>
                <c:pt idx="1">
                  <c:v>Qtr 2</c:v>
                </c:pt>
                <c:pt idx="2">
                  <c:v>Qtr 3</c:v>
                </c:pt>
                <c:pt idx="3">
                  <c:v>Qtr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180</c:v>
                </c:pt>
                <c:pt idx="1">
                  <c:v>200</c:v>
                </c:pt>
                <c:pt idx="2">
                  <c:v>230</c:v>
                </c:pt>
                <c:pt idx="3">
                  <c:v>255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24F-4BB2-B833-8CDDF3AD38C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Expense</c:v>
                </c:pt>
              </c:strCache>
            </c:strRef>
          </c:tx>
          <c:spPr>
            <a:ln w="50800" cap="flat">
              <a:solidFill>
                <a:srgbClr val="EE6C4D"/>
              </a:solidFill>
              <a:prstDash val="solid"/>
              <a:round/>
            </a:ln>
            <a:effectLst>
              <a:outerShdw blurRad="101600" dist="38100" dir="8100000" algn="bl">
                <a:srgbClr val="000000">
                  <a:alpha val="15000"/>
                </a:srgbClr>
              </a:outerShdw>
            </a:effectLst>
          </c:spPr>
          <c:marker>
            <c:symbol val="circle"/>
            <c:size val="6"/>
            <c:spPr>
              <a:solidFill>
                <a:srgbClr val="EE6C4D"/>
              </a:solidFill>
              <a:ln w="9525" cap="flat">
                <a:solidFill>
                  <a:srgbClr val="EE6C4D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Qtr 1</c:v>
                </c:pt>
                <c:pt idx="1">
                  <c:v>Qtr 2</c:v>
                </c:pt>
                <c:pt idx="2">
                  <c:v>Qtr 3</c:v>
                </c:pt>
                <c:pt idx="3">
                  <c:v>Qtr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40</c:v>
                </c:pt>
                <c:pt idx="1">
                  <c:v>40</c:v>
                </c:pt>
                <c:pt idx="2">
                  <c:v>45</c:v>
                </c:pt>
                <c:pt idx="3">
                  <c:v>30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E24F-4BB2-B833-8CDDF3AD38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645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6454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4338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02336"/>
            <a:ext cx="9144000" cy="1109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Performance Analysis &amp;Dashboarding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633728"/>
            <a:ext cx="8229600" cy="789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Capstone Project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0" y="2674621"/>
            <a:ext cx="2743200" cy="45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314701"/>
            <a:ext cx="8229600" cy="617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Abhisekh Kumar Yadav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8229600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 Excel | SQL | Python | Power BI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73152" cy="9144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71600" y="15087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Visibility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8288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visibility into overall financial performance across business units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73152" cy="9144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💰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371600" y="26060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Control Challenges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controlling expenses and monitoring budget variances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73152" cy="9144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📈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1371600" y="37033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Executive-Level Insights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40233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real-time financial insight for decision making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64592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revenue, expense, and profit performance across business units and time periods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74320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cost inefficiencies and budget deviations to support corrective actions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" y="37947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84048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executive dashboard to enable real-time decision-making and insights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Financial transactions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Revenue records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Expense details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 master data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Vendor master data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4290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Budget datasets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8404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Headcount information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1325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16459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2423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" y="27432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520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" y="3840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 Process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Excel-Based Quality Assurance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73152" cy="5943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Validation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0" y="173736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primary and foreign key relationships across tables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73152" cy="5943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00400" y="24688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and documented missing values for quality assessment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73152" cy="5943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32004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00400" y="32004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and flagged outliers using statistical methods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73152" cy="5943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39319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Column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00400" y="393192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validation_status column for systematic review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Data Integrity Maintained – No records deleted during validation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Data Pipeline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560320" cy="5486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tables created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and foreign keys enforced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508760" y="34747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50876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8328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83280" y="1371600"/>
            <a:ext cx="2560320" cy="5486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3280" y="1508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566160" y="20574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connectivity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66160" y="2651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extracted using SQL Alchemy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434840" y="34747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43484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30936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309360" y="1371600"/>
            <a:ext cx="2560320" cy="5486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09360" y="1508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92240" y="2057400"/>
            <a:ext cx="219456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transformation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92240" y="2651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into DataFrames for analysis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60920" y="34747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36092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Statistics &amp; EDA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0116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34440" y="1554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Tendency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• Median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0" y="1463040"/>
            <a:ext cx="20116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37560" y="1554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651760" y="1874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51760" y="2148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 • IQR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463040"/>
            <a:ext cx="20116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40680" y="1554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📉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754880" y="1874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4880" y="2148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• Comparison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66560" y="1463040"/>
            <a:ext cx="20116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543800" y="1554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858000" y="1874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0" y="2148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• Handling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2743200"/>
            <a:ext cx="8321040" cy="2153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29260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Analytical Techniques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" y="3291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dirty="0"/>
              <a:t>Descriptive statistics (mean, median, standard deviation, IQR) to understand data distribution.</a:t>
            </a:r>
          </a:p>
        </p:txBody>
      </p:sp>
      <p:sp>
        <p:nvSpPr>
          <p:cNvPr id="23" name="Text 21"/>
          <p:cNvSpPr/>
          <p:nvPr/>
        </p:nvSpPr>
        <p:spPr>
          <a:xfrm>
            <a:off x="914400" y="3611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dirty="0"/>
              <a:t>Time series analysis to identify trends and patterns</a:t>
            </a: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3931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dirty="0"/>
              <a:t>Period-over-period comparisons for performance tracking</a:t>
            </a: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4400" y="4251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dirty="0"/>
              <a:t>Outlier detection and treatment for data accuracy.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3ED61B-2F9F-EB14-77AC-BBE86DE453C0}"/>
              </a:ext>
            </a:extLst>
          </p:cNvPr>
          <p:cNvSpPr txBox="1"/>
          <p:nvPr/>
        </p:nvSpPr>
        <p:spPr>
          <a:xfrm>
            <a:off x="914400" y="4526280"/>
            <a:ext cx="6917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r>
              <a:rPr lang="en-US" sz="1400" dirty="0"/>
              <a:t> Business unit comparison for comparative insights.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Financial Results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Performance Overview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743200" cy="36576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16459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₹879.69M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337560" y="1554480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37560" y="1554480"/>
            <a:ext cx="2743200" cy="3657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11880" y="16459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069080" y="16459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Expense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20440" y="2194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</a:t>
            </a: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167.74M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217920" y="1554480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17920" y="1554480"/>
            <a:ext cx="2743200" cy="3657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92240" y="16459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949440" y="16459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0" y="2194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₹711.95M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1897380" y="3108960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897380" y="3108960"/>
            <a:ext cx="2743200" cy="3657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171700" y="32004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628900" y="32004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Variance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080260" y="3749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₹743.88M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4777740" y="3108960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77740" y="3108960"/>
            <a:ext cx="2743200" cy="3657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52060" y="32004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509260" y="32004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Employee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960620" y="3749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₹1.11M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Expense Trends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Performance Analysis (2022-2023)</a:t>
            </a:r>
            <a:endParaRPr lang="en-US" sz="1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63040"/>
          <a:ext cx="40233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663440" y="1463040"/>
          <a:ext cx="40233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4572000"/>
            <a:ext cx="4023360" cy="274320"/>
          </a:xfrm>
          <a:prstGeom prst="rect">
            <a:avLst/>
          </a:prstGeom>
          <a:solidFill>
            <a:srgbClr val="22C55E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40080" y="4572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Revenue: Upward trend, peak in Oct (₹90M)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4663440" y="4572000"/>
            <a:ext cx="4023360" cy="274320"/>
          </a:xfrm>
          <a:prstGeom prst="rect">
            <a:avLst/>
          </a:prstGeom>
          <a:solidFill>
            <a:srgbClr val="EF4444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4846320" y="4572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Expense: Volatile, highest in Apr (₹16.5M)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Performance Analysis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&amp; Comparative Analysis</a:t>
            </a:r>
            <a:endParaRPr lang="en-US" sz="1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63040"/>
          <a:ext cx="40233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663440" y="1463040"/>
          <a:ext cx="40233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4572000"/>
            <a:ext cx="4023360" cy="274320"/>
          </a:xfrm>
          <a:prstGeom prst="rect">
            <a:avLst/>
          </a:prstGeom>
          <a:solidFill>
            <a:srgbClr val="3B82F6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40080" y="4572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Profit increased by 61% from Q1 TO Q4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4663440" y="4572000"/>
            <a:ext cx="4023360" cy="274320"/>
          </a:xfrm>
          <a:prstGeom prst="rect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4846320" y="4572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Revenue growing faster than expenses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Implementation Features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73152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81051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metrics: Revenue, Expense, Profit, Budget Variance, Cost/Employee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73152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3317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58775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and quarterly visualizations for revenue, expense, and profit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73152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3108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Filters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33649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date range (2022-2023), Business Unit, Region, Category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73152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38862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414223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explore detailed breakdowns by time period and business unit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Strategic Insights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097280" cy="100584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37360" y="150876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Revenue Growth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37360" y="187452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/>
              <a:t>Revenue shows strong quarterly growth from Q1 to Q4.</a:t>
            </a:r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1097280" cy="10058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37360" y="269748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Volatility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37360" y="306324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/>
              <a:t>Significant monthly expense fluctuations highlight the need for stronger cost controls.</a:t>
            </a:r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1097280" cy="10058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40690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37360" y="388620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Margins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737360" y="425196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/>
              <a:t>Profit margins are improving as revenue growth outpaces expense increases.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99" y="365760"/>
            <a:ext cx="84700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20700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Stabilization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39893" y="1527048"/>
            <a:ext cx="803317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/>
              <a:t>Improve expense monitoring and track budget variance regularly across business units.</a:t>
            </a:r>
          </a:p>
        </p:txBody>
      </p:sp>
      <p:sp>
        <p:nvSpPr>
          <p:cNvPr id="8" name="Text 6"/>
          <p:cNvSpPr/>
          <p:nvPr/>
        </p:nvSpPr>
        <p:spPr>
          <a:xfrm>
            <a:off x="866985" y="1819656"/>
            <a:ext cx="7958667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Improved cost control and reduced expenses.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496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0080" y="235000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Optimization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39893" y="2670048"/>
            <a:ext cx="803317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/>
              <a:t>Use insights from high-performing quarters and business units to improve revenue strategies.</a:t>
            </a:r>
          </a:p>
        </p:txBody>
      </p:sp>
      <p:sp>
        <p:nvSpPr>
          <p:cNvPr id="14" name="Text 12"/>
          <p:cNvSpPr/>
          <p:nvPr/>
        </p:nvSpPr>
        <p:spPr>
          <a:xfrm>
            <a:off x="866985" y="2971800"/>
            <a:ext cx="795866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Steady and consistent revenue growth.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639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0080" y="349300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Adoption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9893" y="3813048"/>
            <a:ext cx="803317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/>
              <a:t>Use the Power BI dashboard for real-time tracking of revenue, expenses, profit, and budget variance.</a:t>
            </a:r>
          </a:p>
        </p:txBody>
      </p:sp>
      <p:sp>
        <p:nvSpPr>
          <p:cNvPr id="20" name="Text 18"/>
          <p:cNvSpPr/>
          <p:nvPr/>
        </p:nvSpPr>
        <p:spPr>
          <a:xfrm>
            <a:off x="866985" y="4114799"/>
            <a:ext cx="8060267" cy="2607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Faster and more accurate decision-making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3200400" y="1371600"/>
            <a:ext cx="2743200" cy="45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Revenue shows strong quarter-over-quarter growth, indicating healthy business momentum.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Expense trends highlight opportunities for improved margin control.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Power BI dashboard enables interactive, real-time performance monitoring.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Data-driven strategic actions can enhance profitability and cost efficiency.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654</Words>
  <Application>Microsoft Office PowerPoint</Application>
  <PresentationFormat>On-screen Show (16:9)</PresentationFormat>
  <Paragraphs>152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Performance Analysis &amp; Dashboarding</dc:title>
  <dc:subject>PptxGenJS Presentation</dc:subject>
  <dc:creator>Abhishek</dc:creator>
  <cp:lastModifiedBy>ABHISEKH YADAV</cp:lastModifiedBy>
  <cp:revision>13</cp:revision>
  <dcterms:created xsi:type="dcterms:W3CDTF">2026-02-17T04:13:29Z</dcterms:created>
  <dcterms:modified xsi:type="dcterms:W3CDTF">2026-02-20T04:32:33Z</dcterms:modified>
</cp:coreProperties>
</file>